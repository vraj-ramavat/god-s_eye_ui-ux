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imes New Roman" charset="1" panose="02020603050405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open3d.org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https://colmap.github.io" TargetMode="External" Type="http://schemas.openxmlformats.org/officeDocument/2006/relationships/hyperlink"/><Relationship Id="rId6" Target="https://github.com/DepthAnything/Depth-Anything-V2" TargetMode="External" Type="http://schemas.openxmlformats.org/officeDocument/2006/relationships/hyperlink"/><Relationship Id="rId7" Target="https://github.com/colmap/pycolmap" TargetMode="External" Type="http://schemas.openxmlformats.org/officeDocument/2006/relationships/hyperlink"/><Relationship Id="rId8" Target="https://github.com/isl-org/MiDaS" TargetMode="External" Type="http://schemas.openxmlformats.org/officeDocument/2006/relationships/hyperlink"/><Relationship Id="rId9" Target="https://repo-sam.inria.fr/fungraph/3d-gaussian-splatting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4792" y="1525848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62366" y="3188102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92870" y="1248708"/>
            <a:ext cx="5912478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2248"/>
            <a:ext cx="15544800" cy="1818837"/>
            <a:chOff x="0" y="0"/>
            <a:chExt cx="20726400" cy="24251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2425116"/>
            </a:xfrm>
            <a:custGeom>
              <a:avLst/>
              <a:gdLst/>
              <a:ahLst/>
              <a:cxnLst/>
              <a:rect r="r" b="b" t="t" l="l"/>
              <a:pathLst>
                <a:path h="242511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25116"/>
                  </a:lnTo>
                  <a:lnTo>
                    <a:pt x="0" y="24251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0907" r="0" b="-1521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2444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6929" y="2305488"/>
            <a:ext cx="10337864" cy="688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</a:p>
          <a:p>
            <a:pPr algn="just" marL="563691" indent="-281846" lvl="1">
              <a:lnSpc>
                <a:spcPts val="7475"/>
              </a:lnSpc>
              <a:buFont typeface="Arial"/>
              <a:buChar char="•"/>
            </a:pPr>
            <a:r>
              <a:rPr lang="en-US" b="true" sz="31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26158</a:t>
            </a:r>
          </a:p>
          <a:p>
            <a:pPr algn="just" marL="563691" indent="-281846" lvl="1">
              <a:lnSpc>
                <a:spcPts val="7475"/>
              </a:lnSpc>
              <a:buFont typeface="Arial"/>
              <a:buChar char="•"/>
            </a:pPr>
            <a:r>
              <a:rPr lang="en-US" b="true" sz="31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Title-Single-Pass Drone Video to Accurate 3D Model Generation System</a:t>
            </a:r>
          </a:p>
          <a:p>
            <a:pPr algn="just" marL="563691" indent="-281846" lvl="1">
              <a:lnSpc>
                <a:spcPts val="7475"/>
              </a:lnSpc>
              <a:buFont typeface="Arial"/>
              <a:buChar char="•"/>
            </a:pPr>
            <a:r>
              <a:rPr lang="en-US" b="true" sz="31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Robotics and Drones</a:t>
            </a:r>
          </a:p>
          <a:p>
            <a:pPr algn="just" marL="563691" indent="-281846" lvl="1">
              <a:lnSpc>
                <a:spcPts val="7475"/>
              </a:lnSpc>
              <a:buFont typeface="Arial"/>
              <a:buChar char="•"/>
            </a:pPr>
            <a:r>
              <a:rPr lang="en-US" b="true" sz="31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63691" indent="-281846" lvl="1">
              <a:lnSpc>
                <a:spcPts val="7475"/>
              </a:lnSpc>
              <a:buFont typeface="Arial"/>
              <a:buChar char="•"/>
            </a:pPr>
            <a:r>
              <a:rPr lang="en-US" b="true" sz="31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ID-51</a:t>
            </a:r>
          </a:p>
          <a:p>
            <a:pPr algn="just" marL="563691" indent="-281846" lvl="1">
              <a:lnSpc>
                <a:spcPts val="7475"/>
              </a:lnSpc>
              <a:buFont typeface="Arial"/>
              <a:buChar char="•"/>
            </a:pPr>
            <a:r>
              <a:rPr lang="en-US" b="true" sz="31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Pixel Error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09751" y="0"/>
            <a:ext cx="10307957" cy="1714500"/>
            <a:chOff x="0" y="0"/>
            <a:chExt cx="13743943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4394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3743942">
                  <a:moveTo>
                    <a:pt x="0" y="0"/>
                  </a:moveTo>
                  <a:lnTo>
                    <a:pt x="13743942" y="0"/>
                  </a:lnTo>
                  <a:lnTo>
                    <a:pt x="1374394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59674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3743943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40"/>
                </a:lnSpc>
              </a:pPr>
              <a:r>
                <a:rPr lang="en-US" sz="4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4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I-Powered Single-Pass 3D Drone Reconstruction :- God's Eye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 Error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66661" y="1744656"/>
            <a:ext cx="16417279" cy="7513644"/>
          </a:xfrm>
          <a:custGeom>
            <a:avLst/>
            <a:gdLst/>
            <a:ahLst/>
            <a:cxnLst/>
            <a:rect r="r" b="b" t="t" l="l"/>
            <a:pathLst>
              <a:path h="7513644" w="16417279">
                <a:moveTo>
                  <a:pt x="0" y="0"/>
                </a:moveTo>
                <a:lnTo>
                  <a:pt x="16417279" y="0"/>
                </a:lnTo>
                <a:lnTo>
                  <a:pt x="16417279" y="7513644"/>
                </a:lnTo>
                <a:lnTo>
                  <a:pt x="0" y="7513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422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 Error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81605" y="2024320"/>
            <a:ext cx="17763298" cy="3630374"/>
          </a:xfrm>
          <a:custGeom>
            <a:avLst/>
            <a:gdLst/>
            <a:ahLst/>
            <a:cxnLst/>
            <a:rect r="r" b="b" t="t" l="l"/>
            <a:pathLst>
              <a:path h="3630374" w="17763298">
                <a:moveTo>
                  <a:pt x="0" y="0"/>
                </a:moveTo>
                <a:lnTo>
                  <a:pt x="17763298" y="0"/>
                </a:lnTo>
                <a:lnTo>
                  <a:pt x="17763298" y="3630374"/>
                </a:lnTo>
                <a:lnTo>
                  <a:pt x="0" y="3630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1605" y="8566509"/>
            <a:ext cx="17569291" cy="1383582"/>
          </a:xfrm>
          <a:custGeom>
            <a:avLst/>
            <a:gdLst/>
            <a:ahLst/>
            <a:cxnLst/>
            <a:rect r="r" b="b" t="t" l="l"/>
            <a:pathLst>
              <a:path h="1383582" w="17569291">
                <a:moveTo>
                  <a:pt x="0" y="0"/>
                </a:moveTo>
                <a:lnTo>
                  <a:pt x="17569291" y="0"/>
                </a:lnTo>
                <a:lnTo>
                  <a:pt x="17569291" y="1383582"/>
                </a:lnTo>
                <a:lnTo>
                  <a:pt x="0" y="1383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3097" y="7457953"/>
            <a:ext cx="17607799" cy="1108556"/>
          </a:xfrm>
          <a:custGeom>
            <a:avLst/>
            <a:gdLst/>
            <a:ahLst/>
            <a:cxnLst/>
            <a:rect r="r" b="b" t="t" l="l"/>
            <a:pathLst>
              <a:path h="1108556" w="17607799">
                <a:moveTo>
                  <a:pt x="0" y="0"/>
                </a:moveTo>
                <a:lnTo>
                  <a:pt x="17607799" y="0"/>
                </a:lnTo>
                <a:lnTo>
                  <a:pt x="17607799" y="1108556"/>
                </a:lnTo>
                <a:lnTo>
                  <a:pt x="0" y="1108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2104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5612" y="6306835"/>
            <a:ext cx="3161075" cy="498977"/>
          </a:xfrm>
          <a:custGeom>
            <a:avLst/>
            <a:gdLst/>
            <a:ahLst/>
            <a:cxnLst/>
            <a:rect r="r" b="b" t="t" l="l"/>
            <a:pathLst>
              <a:path h="498977" w="3161075">
                <a:moveTo>
                  <a:pt x="0" y="0"/>
                </a:moveTo>
                <a:lnTo>
                  <a:pt x="3161075" y="0"/>
                </a:lnTo>
                <a:lnTo>
                  <a:pt x="3161075" y="498977"/>
                </a:lnTo>
                <a:lnTo>
                  <a:pt x="0" y="4989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520136" b="-6696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5899" y="6995343"/>
            <a:ext cx="17214997" cy="473412"/>
          </a:xfrm>
          <a:custGeom>
            <a:avLst/>
            <a:gdLst/>
            <a:ahLst/>
            <a:cxnLst/>
            <a:rect r="r" b="b" t="t" l="l"/>
            <a:pathLst>
              <a:path h="473412" w="17214997">
                <a:moveTo>
                  <a:pt x="0" y="0"/>
                </a:moveTo>
                <a:lnTo>
                  <a:pt x="17214997" y="0"/>
                </a:lnTo>
                <a:lnTo>
                  <a:pt x="17214997" y="473412"/>
                </a:lnTo>
                <a:lnTo>
                  <a:pt x="0" y="473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2454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 Error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380216" y="1643062"/>
            <a:ext cx="11470275" cy="7183404"/>
          </a:xfrm>
          <a:custGeom>
            <a:avLst/>
            <a:gdLst/>
            <a:ahLst/>
            <a:cxnLst/>
            <a:rect r="r" b="b" t="t" l="l"/>
            <a:pathLst>
              <a:path h="7183404" w="11470275">
                <a:moveTo>
                  <a:pt x="0" y="0"/>
                </a:moveTo>
                <a:lnTo>
                  <a:pt x="11470275" y="0"/>
                </a:lnTo>
                <a:lnTo>
                  <a:pt x="11470275" y="7183405"/>
                </a:lnTo>
                <a:lnTo>
                  <a:pt x="0" y="7183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5612" y="2072530"/>
            <a:ext cx="7262614" cy="6324470"/>
          </a:xfrm>
          <a:custGeom>
            <a:avLst/>
            <a:gdLst/>
            <a:ahLst/>
            <a:cxnLst/>
            <a:rect r="r" b="b" t="t" l="l"/>
            <a:pathLst>
              <a:path h="6324470" w="7262614">
                <a:moveTo>
                  <a:pt x="0" y="0"/>
                </a:moveTo>
                <a:lnTo>
                  <a:pt x="7262614" y="0"/>
                </a:lnTo>
                <a:lnTo>
                  <a:pt x="7262614" y="6324470"/>
                </a:lnTo>
                <a:lnTo>
                  <a:pt x="0" y="63244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91" r="0" b="-79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24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 Error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483211" y="2582945"/>
            <a:ext cx="2530587" cy="68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6"/>
              </a:lnSpc>
              <a:spcBef>
                <a:spcPct val="0"/>
              </a:spcBef>
            </a:pPr>
            <a:r>
              <a:rPr lang="en-US" b="true" sz="1997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 overlapping flight grid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34772" y="3803013"/>
            <a:ext cx="3288987" cy="71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042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Fly 3-5+ passes 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042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(heavy battery/time)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79485" y="5095875"/>
            <a:ext cx="2750190" cy="71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  <a:spcBef>
                <a:spcPct val="0"/>
              </a:spcBef>
            </a:pPr>
            <a:r>
              <a:rPr lang="en-US" b="true" sz="2031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Manually switch in desktop software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93986" y="6261036"/>
            <a:ext cx="2686624" cy="71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6"/>
              </a:lnSpc>
              <a:spcBef>
                <a:spcPct val="0"/>
              </a:spcBef>
            </a:pPr>
            <a:r>
              <a:rPr lang="en-US" b="true" sz="2040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Waiting days for terrain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06400" y="7677931"/>
            <a:ext cx="2624533" cy="70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b="true" sz="2068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 the critical response window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7054" y="1853829"/>
            <a:ext cx="3578692" cy="81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b="true" sz="2397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Traditional Multi-Pass survey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5205398">
            <a:off x="16857090" y="4869583"/>
            <a:ext cx="894614" cy="319824"/>
          </a:xfrm>
          <a:custGeom>
            <a:avLst/>
            <a:gdLst/>
            <a:ahLst/>
            <a:cxnLst/>
            <a:rect r="r" b="b" t="t" l="l"/>
            <a:pathLst>
              <a:path h="319824" w="894614">
                <a:moveTo>
                  <a:pt x="0" y="0"/>
                </a:moveTo>
                <a:lnTo>
                  <a:pt x="894614" y="0"/>
                </a:lnTo>
                <a:lnTo>
                  <a:pt x="894614" y="319825"/>
                </a:lnTo>
                <a:lnTo>
                  <a:pt x="0" y="31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029239" y="4660700"/>
            <a:ext cx="460121" cy="416965"/>
          </a:xfrm>
          <a:custGeom>
            <a:avLst/>
            <a:gdLst/>
            <a:ahLst/>
            <a:cxnLst/>
            <a:rect r="r" b="b" t="t" l="l"/>
            <a:pathLst>
              <a:path h="416965" w="460121">
                <a:moveTo>
                  <a:pt x="0" y="0"/>
                </a:moveTo>
                <a:lnTo>
                  <a:pt x="460122" y="0"/>
                </a:lnTo>
                <a:lnTo>
                  <a:pt x="460122" y="416965"/>
                </a:lnTo>
                <a:lnTo>
                  <a:pt x="0" y="4169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428327">
            <a:off x="1161373" y="7481859"/>
            <a:ext cx="613772" cy="575830"/>
          </a:xfrm>
          <a:custGeom>
            <a:avLst/>
            <a:gdLst/>
            <a:ahLst/>
            <a:cxnLst/>
            <a:rect r="r" b="b" t="t" l="l"/>
            <a:pathLst>
              <a:path h="575830" w="613772">
                <a:moveTo>
                  <a:pt x="0" y="0"/>
                </a:moveTo>
                <a:lnTo>
                  <a:pt x="613772" y="0"/>
                </a:lnTo>
                <a:lnTo>
                  <a:pt x="613772" y="575830"/>
                </a:lnTo>
                <a:lnTo>
                  <a:pt x="0" y="57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6351326">
            <a:off x="1291671" y="7315400"/>
            <a:ext cx="863644" cy="639097"/>
          </a:xfrm>
          <a:custGeom>
            <a:avLst/>
            <a:gdLst/>
            <a:ahLst/>
            <a:cxnLst/>
            <a:rect r="r" b="b" t="t" l="l"/>
            <a:pathLst>
              <a:path h="639097" w="863644">
                <a:moveTo>
                  <a:pt x="0" y="0"/>
                </a:moveTo>
                <a:lnTo>
                  <a:pt x="863644" y="0"/>
                </a:lnTo>
                <a:lnTo>
                  <a:pt x="863644" y="639097"/>
                </a:lnTo>
                <a:lnTo>
                  <a:pt x="0" y="639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333966" y="2756236"/>
            <a:ext cx="3184274" cy="33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8"/>
              </a:lnSpc>
              <a:spcBef>
                <a:spcPct val="0"/>
              </a:spcBef>
            </a:pPr>
            <a:r>
              <a:rPr lang="en-US" b="true" sz="1977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drone flyover video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4862" y="3597246"/>
            <a:ext cx="2311242" cy="101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depth fusion</a:t>
            </a:r>
          </a:p>
          <a:p>
            <a:pPr algn="ctr">
              <a:lnSpc>
                <a:spcPts val="2771"/>
              </a:lnSpc>
            </a:pPr>
            <a:r>
              <a:rPr lang="en-US" sz="1979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(single pass)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6270561"/>
            <a:ext cx="2857095" cy="111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2184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ready</a:t>
            </a:r>
          </a:p>
          <a:p>
            <a:pPr algn="ctr">
              <a:lnSpc>
                <a:spcPts val="3058"/>
              </a:lnSpc>
            </a:pPr>
            <a:r>
              <a:rPr lang="en-US" sz="2184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hours</a:t>
            </a:r>
          </a:p>
          <a:p>
            <a:pPr algn="ctr">
              <a:lnSpc>
                <a:spcPts val="3058"/>
              </a:lnSpc>
              <a:spcBef>
                <a:spcPct val="0"/>
              </a:spcBef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6620925">
            <a:off x="15905938" y="7113683"/>
            <a:ext cx="894614" cy="319824"/>
          </a:xfrm>
          <a:custGeom>
            <a:avLst/>
            <a:gdLst/>
            <a:ahLst/>
            <a:cxnLst/>
            <a:rect r="r" b="b" t="t" l="l"/>
            <a:pathLst>
              <a:path h="319824" w="894614">
                <a:moveTo>
                  <a:pt x="0" y="0"/>
                </a:moveTo>
                <a:lnTo>
                  <a:pt x="894614" y="0"/>
                </a:lnTo>
                <a:lnTo>
                  <a:pt x="894614" y="319825"/>
                </a:lnTo>
                <a:lnTo>
                  <a:pt x="0" y="31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198600" y="6970158"/>
            <a:ext cx="460121" cy="416965"/>
          </a:xfrm>
          <a:custGeom>
            <a:avLst/>
            <a:gdLst/>
            <a:ahLst/>
            <a:cxnLst/>
            <a:rect r="r" b="b" t="t" l="l"/>
            <a:pathLst>
              <a:path h="416965" w="460121">
                <a:moveTo>
                  <a:pt x="0" y="0"/>
                </a:moveTo>
                <a:lnTo>
                  <a:pt x="460122" y="0"/>
                </a:lnTo>
                <a:lnTo>
                  <a:pt x="460122" y="416965"/>
                </a:lnTo>
                <a:lnTo>
                  <a:pt x="0" y="4169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2447013">
            <a:off x="16133304" y="2904067"/>
            <a:ext cx="894614" cy="319824"/>
          </a:xfrm>
          <a:custGeom>
            <a:avLst/>
            <a:gdLst/>
            <a:ahLst/>
            <a:cxnLst/>
            <a:rect r="r" b="b" t="t" l="l"/>
            <a:pathLst>
              <a:path h="319824" w="894614">
                <a:moveTo>
                  <a:pt x="0" y="0"/>
                </a:moveTo>
                <a:lnTo>
                  <a:pt x="894614" y="0"/>
                </a:lnTo>
                <a:lnTo>
                  <a:pt x="894614" y="319824"/>
                </a:lnTo>
                <a:lnTo>
                  <a:pt x="0" y="3198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425966" y="2760542"/>
            <a:ext cx="460121" cy="416965"/>
          </a:xfrm>
          <a:custGeom>
            <a:avLst/>
            <a:gdLst/>
            <a:ahLst/>
            <a:cxnLst/>
            <a:rect r="r" b="b" t="t" l="l"/>
            <a:pathLst>
              <a:path h="416965" w="460121">
                <a:moveTo>
                  <a:pt x="0" y="0"/>
                </a:moveTo>
                <a:lnTo>
                  <a:pt x="460121" y="0"/>
                </a:lnTo>
                <a:lnTo>
                  <a:pt x="460121" y="416964"/>
                </a:lnTo>
                <a:lnTo>
                  <a:pt x="0" y="4169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728895" y="1805639"/>
            <a:ext cx="3578692" cy="81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b="true" sz="2397">
                <a:solidFill>
                  <a:srgbClr val="139E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God’ s Eye Single-Pass workflow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4242" y="4948330"/>
            <a:ext cx="2535510" cy="101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1982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mesh +</a:t>
            </a:r>
          </a:p>
          <a:p>
            <a:pPr algn="ctr">
              <a:lnSpc>
                <a:spcPts val="2774"/>
              </a:lnSpc>
            </a:pPr>
            <a:r>
              <a:rPr lang="en-US" sz="1982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texture pipeline</a:t>
            </a:r>
          </a:p>
          <a:p>
            <a:pPr algn="ctr">
              <a:lnSpc>
                <a:spcPts val="2774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148862" y="7517495"/>
            <a:ext cx="3069209" cy="101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1982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Georeferenced &amp;</a:t>
            </a:r>
          </a:p>
          <a:p>
            <a:pPr algn="ctr">
              <a:lnSpc>
                <a:spcPts val="2774"/>
              </a:lnSpc>
            </a:pPr>
            <a:r>
              <a:rPr lang="en-US" sz="1982" b="true">
                <a:solidFill>
                  <a:srgbClr val="BE8E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metrically accurate</a:t>
            </a:r>
          </a:p>
          <a:p>
            <a:pPr algn="ctr">
              <a:lnSpc>
                <a:spcPts val="2774"/>
              </a:lnSpc>
              <a:spcBef>
                <a:spcPct val="0"/>
              </a:spcBef>
            </a:pPr>
          </a:p>
        </p:txBody>
      </p:sp>
      <p:sp>
        <p:nvSpPr>
          <p:cNvPr name="Freeform 38" id="38"/>
          <p:cNvSpPr/>
          <p:nvPr/>
        </p:nvSpPr>
        <p:spPr>
          <a:xfrm flipH="false" flipV="false" rot="428327">
            <a:off x="175959" y="5460492"/>
            <a:ext cx="613772" cy="575830"/>
          </a:xfrm>
          <a:custGeom>
            <a:avLst/>
            <a:gdLst/>
            <a:ahLst/>
            <a:cxnLst/>
            <a:rect r="r" b="b" t="t" l="l"/>
            <a:pathLst>
              <a:path h="575830" w="613772">
                <a:moveTo>
                  <a:pt x="0" y="0"/>
                </a:moveTo>
                <a:lnTo>
                  <a:pt x="613772" y="0"/>
                </a:lnTo>
                <a:lnTo>
                  <a:pt x="613772" y="575830"/>
                </a:lnTo>
                <a:lnTo>
                  <a:pt x="0" y="57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4520042">
            <a:off x="306257" y="5294034"/>
            <a:ext cx="863644" cy="639097"/>
          </a:xfrm>
          <a:custGeom>
            <a:avLst/>
            <a:gdLst/>
            <a:ahLst/>
            <a:cxnLst/>
            <a:rect r="r" b="b" t="t" l="l"/>
            <a:pathLst>
              <a:path h="639097" w="863644">
                <a:moveTo>
                  <a:pt x="0" y="0"/>
                </a:moveTo>
                <a:lnTo>
                  <a:pt x="863645" y="0"/>
                </a:lnTo>
                <a:lnTo>
                  <a:pt x="863645" y="639097"/>
                </a:lnTo>
                <a:lnTo>
                  <a:pt x="0" y="639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428327">
            <a:off x="747046" y="3096834"/>
            <a:ext cx="756314" cy="709560"/>
          </a:xfrm>
          <a:custGeom>
            <a:avLst/>
            <a:gdLst/>
            <a:ahLst/>
            <a:cxnLst/>
            <a:rect r="r" b="b" t="t" l="l"/>
            <a:pathLst>
              <a:path h="709560" w="756314">
                <a:moveTo>
                  <a:pt x="0" y="0"/>
                </a:moveTo>
                <a:lnTo>
                  <a:pt x="756314" y="0"/>
                </a:lnTo>
                <a:lnTo>
                  <a:pt x="756314" y="709559"/>
                </a:lnTo>
                <a:lnTo>
                  <a:pt x="0" y="7095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-1877470">
            <a:off x="895863" y="3074157"/>
            <a:ext cx="863644" cy="639097"/>
          </a:xfrm>
          <a:custGeom>
            <a:avLst/>
            <a:gdLst/>
            <a:ahLst/>
            <a:cxnLst/>
            <a:rect r="r" b="b" t="t" l="l"/>
            <a:pathLst>
              <a:path h="639097" w="863644">
                <a:moveTo>
                  <a:pt x="0" y="0"/>
                </a:moveTo>
                <a:lnTo>
                  <a:pt x="863645" y="0"/>
                </a:lnTo>
                <a:lnTo>
                  <a:pt x="863645" y="639097"/>
                </a:lnTo>
                <a:lnTo>
                  <a:pt x="0" y="639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392005" y="4103997"/>
            <a:ext cx="9091206" cy="229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  <a:spcBef>
                <a:spcPct val="0"/>
              </a:spcBef>
            </a:pPr>
            <a:r>
              <a:rPr lang="en-US" b="true" sz="4360">
                <a:solidFill>
                  <a:srgbClr val="1F49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will God’s Eye change this ?  same terrain - ONE  flight instead of five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44518" y="8731022"/>
            <a:ext cx="16111721" cy="101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1982" b="true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Output: a georeferenced, metrically accurate 3D model — fewer flights · faster turnaround · lower cost · usable in disaster response, defense recon &amp; infrastructure survey</a:t>
            </a:r>
          </a:p>
          <a:p>
            <a:pPr algn="ctr">
              <a:lnSpc>
                <a:spcPts val="27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 Error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5612" y="2158426"/>
            <a:ext cx="6294672" cy="802732"/>
            <a:chOff x="0" y="0"/>
            <a:chExt cx="1657856" cy="2114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7856" cy="211419"/>
            </a:xfrm>
            <a:custGeom>
              <a:avLst/>
              <a:gdLst/>
              <a:ahLst/>
              <a:cxnLst/>
              <a:rect r="r" b="b" t="t" l="l"/>
              <a:pathLst>
                <a:path h="211419" w="1657856">
                  <a:moveTo>
                    <a:pt x="20909" y="0"/>
                  </a:moveTo>
                  <a:lnTo>
                    <a:pt x="1636947" y="0"/>
                  </a:lnTo>
                  <a:cubicBezTo>
                    <a:pt x="1648495" y="0"/>
                    <a:pt x="1657856" y="9361"/>
                    <a:pt x="1657856" y="20909"/>
                  </a:cubicBezTo>
                  <a:lnTo>
                    <a:pt x="1657856" y="190511"/>
                  </a:lnTo>
                  <a:cubicBezTo>
                    <a:pt x="1657856" y="202058"/>
                    <a:pt x="1648495" y="211419"/>
                    <a:pt x="1636947" y="211419"/>
                  </a:cubicBezTo>
                  <a:lnTo>
                    <a:pt x="20909" y="211419"/>
                  </a:lnTo>
                  <a:cubicBezTo>
                    <a:pt x="9361" y="211419"/>
                    <a:pt x="0" y="202058"/>
                    <a:pt x="0" y="190511"/>
                  </a:cubicBezTo>
                  <a:lnTo>
                    <a:pt x="0" y="20909"/>
                  </a:lnTo>
                  <a:cubicBezTo>
                    <a:pt x="0" y="9361"/>
                    <a:pt x="9361" y="0"/>
                    <a:pt x="20909" y="0"/>
                  </a:cubicBezTo>
                  <a:close/>
                </a:path>
              </a:pathLst>
            </a:custGeom>
            <a:solidFill>
              <a:srgbClr val="5C8AC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57856" cy="24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b="true" sz="218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Structure-from-Motion &amp; Multi-View Stereo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34821" y="2158426"/>
            <a:ext cx="5008017" cy="802732"/>
            <a:chOff x="0" y="0"/>
            <a:chExt cx="1318984" cy="2114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8984" cy="211419"/>
            </a:xfrm>
            <a:custGeom>
              <a:avLst/>
              <a:gdLst/>
              <a:ahLst/>
              <a:cxnLst/>
              <a:rect r="r" b="b" t="t" l="l"/>
              <a:pathLst>
                <a:path h="211419" w="1318984">
                  <a:moveTo>
                    <a:pt x="26280" y="0"/>
                  </a:moveTo>
                  <a:lnTo>
                    <a:pt x="1292703" y="0"/>
                  </a:lnTo>
                  <a:cubicBezTo>
                    <a:pt x="1299673" y="0"/>
                    <a:pt x="1306358" y="2769"/>
                    <a:pt x="1311287" y="7697"/>
                  </a:cubicBezTo>
                  <a:cubicBezTo>
                    <a:pt x="1316215" y="12626"/>
                    <a:pt x="1318984" y="19310"/>
                    <a:pt x="1318984" y="26280"/>
                  </a:cubicBezTo>
                  <a:lnTo>
                    <a:pt x="1318984" y="185139"/>
                  </a:lnTo>
                  <a:cubicBezTo>
                    <a:pt x="1318984" y="192109"/>
                    <a:pt x="1316215" y="198793"/>
                    <a:pt x="1311287" y="203722"/>
                  </a:cubicBezTo>
                  <a:cubicBezTo>
                    <a:pt x="1306358" y="208650"/>
                    <a:pt x="1299673" y="211419"/>
                    <a:pt x="1292703" y="211419"/>
                  </a:cubicBezTo>
                  <a:lnTo>
                    <a:pt x="26280" y="211419"/>
                  </a:lnTo>
                  <a:cubicBezTo>
                    <a:pt x="19310" y="211419"/>
                    <a:pt x="12626" y="208650"/>
                    <a:pt x="7697" y="203722"/>
                  </a:cubicBezTo>
                  <a:cubicBezTo>
                    <a:pt x="2769" y="198793"/>
                    <a:pt x="0" y="192109"/>
                    <a:pt x="0" y="185139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5C8AC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18984" cy="24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b="true" sz="218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Monocular Depth Estimation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82217" y="2158426"/>
            <a:ext cx="5362686" cy="802732"/>
            <a:chOff x="0" y="0"/>
            <a:chExt cx="1412395" cy="2114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2395" cy="211419"/>
            </a:xfrm>
            <a:custGeom>
              <a:avLst/>
              <a:gdLst/>
              <a:ahLst/>
              <a:cxnLst/>
              <a:rect r="r" b="b" t="t" l="l"/>
              <a:pathLst>
                <a:path h="211419" w="1412395">
                  <a:moveTo>
                    <a:pt x="24542" y="0"/>
                  </a:moveTo>
                  <a:lnTo>
                    <a:pt x="1387852" y="0"/>
                  </a:lnTo>
                  <a:cubicBezTo>
                    <a:pt x="1394361" y="0"/>
                    <a:pt x="1400604" y="2586"/>
                    <a:pt x="1405207" y="7188"/>
                  </a:cubicBezTo>
                  <a:cubicBezTo>
                    <a:pt x="1409809" y="11791"/>
                    <a:pt x="1412395" y="18033"/>
                    <a:pt x="1412395" y="24542"/>
                  </a:cubicBezTo>
                  <a:lnTo>
                    <a:pt x="1412395" y="186877"/>
                  </a:lnTo>
                  <a:cubicBezTo>
                    <a:pt x="1412395" y="193386"/>
                    <a:pt x="1409809" y="199628"/>
                    <a:pt x="1405207" y="204231"/>
                  </a:cubicBezTo>
                  <a:cubicBezTo>
                    <a:pt x="1400604" y="208834"/>
                    <a:pt x="1394361" y="211419"/>
                    <a:pt x="1387852" y="211419"/>
                  </a:cubicBezTo>
                  <a:lnTo>
                    <a:pt x="24542" y="211419"/>
                  </a:lnTo>
                  <a:cubicBezTo>
                    <a:pt x="18033" y="211419"/>
                    <a:pt x="11791" y="208834"/>
                    <a:pt x="7188" y="204231"/>
                  </a:cubicBezTo>
                  <a:cubicBezTo>
                    <a:pt x="2586" y="199628"/>
                    <a:pt x="0" y="193386"/>
                    <a:pt x="0" y="186877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5C8AC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12395" cy="24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b="true" sz="218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Meshing, Texturing &amp; Neural Rendering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2148" y="3475509"/>
            <a:ext cx="5981600" cy="2553537"/>
            <a:chOff x="0" y="0"/>
            <a:chExt cx="1575401" cy="6725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75401" cy="672536"/>
            </a:xfrm>
            <a:custGeom>
              <a:avLst/>
              <a:gdLst/>
              <a:ahLst/>
              <a:cxnLst/>
              <a:rect r="r" b="b" t="t" l="l"/>
              <a:pathLst>
                <a:path h="672536" w="1575401">
                  <a:moveTo>
                    <a:pt x="22003" y="0"/>
                  </a:moveTo>
                  <a:lnTo>
                    <a:pt x="1553398" y="0"/>
                  </a:lnTo>
                  <a:cubicBezTo>
                    <a:pt x="1559233" y="0"/>
                    <a:pt x="1564830" y="2318"/>
                    <a:pt x="1568956" y="6445"/>
                  </a:cubicBezTo>
                  <a:cubicBezTo>
                    <a:pt x="1573083" y="10571"/>
                    <a:pt x="1575401" y="16167"/>
                    <a:pt x="1575401" y="22003"/>
                  </a:cubicBezTo>
                  <a:lnTo>
                    <a:pt x="1575401" y="650533"/>
                  </a:lnTo>
                  <a:cubicBezTo>
                    <a:pt x="1575401" y="662685"/>
                    <a:pt x="1565550" y="672536"/>
                    <a:pt x="1553398" y="672536"/>
                  </a:cubicBezTo>
                  <a:lnTo>
                    <a:pt x="22003" y="672536"/>
                  </a:lnTo>
                  <a:cubicBezTo>
                    <a:pt x="9851" y="672536"/>
                    <a:pt x="0" y="662685"/>
                    <a:pt x="0" y="650533"/>
                  </a:cubicBezTo>
                  <a:lnTo>
                    <a:pt x="0" y="22003"/>
                  </a:lnTo>
                  <a:cubicBezTo>
                    <a:pt x="0" y="9851"/>
                    <a:pt x="9851" y="0"/>
                    <a:pt x="22003" y="0"/>
                  </a:cubicBezTo>
                  <a:close/>
                </a:path>
              </a:pathLst>
            </a:custGeom>
            <a:solidFill>
              <a:srgbClr val="DBDDD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75401" cy="71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34"/>
                </a:lnSpc>
              </a:pPr>
              <a:r>
                <a:rPr lang="en-US" sz="1882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COLMAP — general-purpose SfM &amp; MVS pipeline</a:t>
              </a:r>
            </a:p>
            <a:p>
              <a:pPr algn="l">
                <a:lnSpc>
                  <a:spcPts val="2634"/>
                </a:lnSpc>
              </a:pPr>
              <a:r>
                <a:rPr lang="en-US" b="true" sz="1882" u="sng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  <a:hlinkClick r:id="rId5" tooltip="https://colmap.github.io"/>
                </a:rPr>
                <a:t>https://colmap.github.io/</a:t>
              </a:r>
            </a:p>
            <a:p>
              <a:pPr algn="l">
                <a:lnSpc>
                  <a:spcPts val="263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2148" y="6343981"/>
            <a:ext cx="5981600" cy="2553537"/>
            <a:chOff x="0" y="0"/>
            <a:chExt cx="1575401" cy="6725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75401" cy="672536"/>
            </a:xfrm>
            <a:custGeom>
              <a:avLst/>
              <a:gdLst/>
              <a:ahLst/>
              <a:cxnLst/>
              <a:rect r="r" b="b" t="t" l="l"/>
              <a:pathLst>
                <a:path h="672536" w="1575401">
                  <a:moveTo>
                    <a:pt x="22003" y="0"/>
                  </a:moveTo>
                  <a:lnTo>
                    <a:pt x="1553398" y="0"/>
                  </a:lnTo>
                  <a:cubicBezTo>
                    <a:pt x="1559233" y="0"/>
                    <a:pt x="1564830" y="2318"/>
                    <a:pt x="1568956" y="6445"/>
                  </a:cubicBezTo>
                  <a:cubicBezTo>
                    <a:pt x="1573083" y="10571"/>
                    <a:pt x="1575401" y="16167"/>
                    <a:pt x="1575401" y="22003"/>
                  </a:cubicBezTo>
                  <a:lnTo>
                    <a:pt x="1575401" y="650533"/>
                  </a:lnTo>
                  <a:cubicBezTo>
                    <a:pt x="1575401" y="662685"/>
                    <a:pt x="1565550" y="672536"/>
                    <a:pt x="1553398" y="672536"/>
                  </a:cubicBezTo>
                  <a:lnTo>
                    <a:pt x="22003" y="672536"/>
                  </a:lnTo>
                  <a:cubicBezTo>
                    <a:pt x="9851" y="672536"/>
                    <a:pt x="0" y="662685"/>
                    <a:pt x="0" y="650533"/>
                  </a:cubicBezTo>
                  <a:lnTo>
                    <a:pt x="0" y="22003"/>
                  </a:lnTo>
                  <a:cubicBezTo>
                    <a:pt x="0" y="9851"/>
                    <a:pt x="9851" y="0"/>
                    <a:pt x="22003" y="0"/>
                  </a:cubicBezTo>
                  <a:close/>
                </a:path>
              </a:pathLst>
            </a:custGeom>
            <a:solidFill>
              <a:srgbClr val="DBDDD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75401" cy="71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72300" y="3475509"/>
            <a:ext cx="5333059" cy="2553537"/>
            <a:chOff x="0" y="0"/>
            <a:chExt cx="1404592" cy="6725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04592" cy="672536"/>
            </a:xfrm>
            <a:custGeom>
              <a:avLst/>
              <a:gdLst/>
              <a:ahLst/>
              <a:cxnLst/>
              <a:rect r="r" b="b" t="t" l="l"/>
              <a:pathLst>
                <a:path h="672536" w="1404592">
                  <a:moveTo>
                    <a:pt x="24679" y="0"/>
                  </a:moveTo>
                  <a:lnTo>
                    <a:pt x="1379913" y="0"/>
                  </a:lnTo>
                  <a:cubicBezTo>
                    <a:pt x="1393543" y="0"/>
                    <a:pt x="1404592" y="11049"/>
                    <a:pt x="1404592" y="24679"/>
                  </a:cubicBezTo>
                  <a:lnTo>
                    <a:pt x="1404592" y="647858"/>
                  </a:lnTo>
                  <a:cubicBezTo>
                    <a:pt x="1404592" y="654403"/>
                    <a:pt x="1401992" y="660680"/>
                    <a:pt x="1397364" y="665308"/>
                  </a:cubicBezTo>
                  <a:cubicBezTo>
                    <a:pt x="1392735" y="669936"/>
                    <a:pt x="1386458" y="672536"/>
                    <a:pt x="1379913" y="672536"/>
                  </a:cubicBezTo>
                  <a:lnTo>
                    <a:pt x="24679" y="672536"/>
                  </a:lnTo>
                  <a:cubicBezTo>
                    <a:pt x="11049" y="672536"/>
                    <a:pt x="0" y="661487"/>
                    <a:pt x="0" y="647858"/>
                  </a:cubicBezTo>
                  <a:lnTo>
                    <a:pt x="0" y="24679"/>
                  </a:lnTo>
                  <a:cubicBezTo>
                    <a:pt x="0" y="11049"/>
                    <a:pt x="11049" y="0"/>
                    <a:pt x="24679" y="0"/>
                  </a:cubicBezTo>
                  <a:close/>
                </a:path>
              </a:pathLst>
            </a:custGeom>
            <a:solidFill>
              <a:srgbClr val="DBDDD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04592" cy="71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82217" y="3475509"/>
            <a:ext cx="5362686" cy="2553537"/>
            <a:chOff x="0" y="0"/>
            <a:chExt cx="1412395" cy="6725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12395" cy="672536"/>
            </a:xfrm>
            <a:custGeom>
              <a:avLst/>
              <a:gdLst/>
              <a:ahLst/>
              <a:cxnLst/>
              <a:rect r="r" b="b" t="t" l="l"/>
              <a:pathLst>
                <a:path h="672536" w="1412395">
                  <a:moveTo>
                    <a:pt x="24542" y="0"/>
                  </a:moveTo>
                  <a:lnTo>
                    <a:pt x="1387852" y="0"/>
                  </a:lnTo>
                  <a:cubicBezTo>
                    <a:pt x="1394361" y="0"/>
                    <a:pt x="1400604" y="2586"/>
                    <a:pt x="1405207" y="7188"/>
                  </a:cubicBezTo>
                  <a:cubicBezTo>
                    <a:pt x="1409809" y="11791"/>
                    <a:pt x="1412395" y="18033"/>
                    <a:pt x="1412395" y="24542"/>
                  </a:cubicBezTo>
                  <a:lnTo>
                    <a:pt x="1412395" y="647994"/>
                  </a:lnTo>
                  <a:cubicBezTo>
                    <a:pt x="1412395" y="654503"/>
                    <a:pt x="1409809" y="660746"/>
                    <a:pt x="1405207" y="665348"/>
                  </a:cubicBezTo>
                  <a:cubicBezTo>
                    <a:pt x="1400604" y="669951"/>
                    <a:pt x="1394361" y="672536"/>
                    <a:pt x="1387852" y="672536"/>
                  </a:cubicBezTo>
                  <a:lnTo>
                    <a:pt x="24542" y="672536"/>
                  </a:lnTo>
                  <a:cubicBezTo>
                    <a:pt x="18033" y="672536"/>
                    <a:pt x="11791" y="669951"/>
                    <a:pt x="7188" y="665348"/>
                  </a:cubicBezTo>
                  <a:cubicBezTo>
                    <a:pt x="2586" y="660746"/>
                    <a:pt x="0" y="654503"/>
                    <a:pt x="0" y="647994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DBDDD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412395" cy="71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682217" y="6343981"/>
            <a:ext cx="5362686" cy="2553537"/>
            <a:chOff x="0" y="0"/>
            <a:chExt cx="1412395" cy="6725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12395" cy="672536"/>
            </a:xfrm>
            <a:custGeom>
              <a:avLst/>
              <a:gdLst/>
              <a:ahLst/>
              <a:cxnLst/>
              <a:rect r="r" b="b" t="t" l="l"/>
              <a:pathLst>
                <a:path h="672536" w="1412395">
                  <a:moveTo>
                    <a:pt x="24542" y="0"/>
                  </a:moveTo>
                  <a:lnTo>
                    <a:pt x="1387852" y="0"/>
                  </a:lnTo>
                  <a:cubicBezTo>
                    <a:pt x="1394361" y="0"/>
                    <a:pt x="1400604" y="2586"/>
                    <a:pt x="1405207" y="7188"/>
                  </a:cubicBezTo>
                  <a:cubicBezTo>
                    <a:pt x="1409809" y="11791"/>
                    <a:pt x="1412395" y="18033"/>
                    <a:pt x="1412395" y="24542"/>
                  </a:cubicBezTo>
                  <a:lnTo>
                    <a:pt x="1412395" y="647994"/>
                  </a:lnTo>
                  <a:cubicBezTo>
                    <a:pt x="1412395" y="654503"/>
                    <a:pt x="1409809" y="660746"/>
                    <a:pt x="1405207" y="665348"/>
                  </a:cubicBezTo>
                  <a:cubicBezTo>
                    <a:pt x="1400604" y="669951"/>
                    <a:pt x="1394361" y="672536"/>
                    <a:pt x="1387852" y="672536"/>
                  </a:cubicBezTo>
                  <a:lnTo>
                    <a:pt x="24542" y="672536"/>
                  </a:lnTo>
                  <a:cubicBezTo>
                    <a:pt x="18033" y="672536"/>
                    <a:pt x="11791" y="669951"/>
                    <a:pt x="7188" y="665348"/>
                  </a:cubicBezTo>
                  <a:cubicBezTo>
                    <a:pt x="2586" y="660746"/>
                    <a:pt x="0" y="654503"/>
                    <a:pt x="0" y="647994"/>
                  </a:cubicBezTo>
                  <a:lnTo>
                    <a:pt x="0" y="24542"/>
                  </a:lnTo>
                  <a:cubicBezTo>
                    <a:pt x="0" y="18033"/>
                    <a:pt x="2586" y="11791"/>
                    <a:pt x="7188" y="7188"/>
                  </a:cubicBezTo>
                  <a:cubicBezTo>
                    <a:pt x="11791" y="2586"/>
                    <a:pt x="18033" y="0"/>
                    <a:pt x="24542" y="0"/>
                  </a:cubicBezTo>
                  <a:close/>
                </a:path>
              </a:pathLst>
            </a:custGeom>
            <a:solidFill>
              <a:srgbClr val="DBDDD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412395" cy="71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72300" y="6343981"/>
            <a:ext cx="5333059" cy="2553537"/>
            <a:chOff x="0" y="0"/>
            <a:chExt cx="1404592" cy="6725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04592" cy="672536"/>
            </a:xfrm>
            <a:custGeom>
              <a:avLst/>
              <a:gdLst/>
              <a:ahLst/>
              <a:cxnLst/>
              <a:rect r="r" b="b" t="t" l="l"/>
              <a:pathLst>
                <a:path h="672536" w="1404592">
                  <a:moveTo>
                    <a:pt x="24679" y="0"/>
                  </a:moveTo>
                  <a:lnTo>
                    <a:pt x="1379913" y="0"/>
                  </a:lnTo>
                  <a:cubicBezTo>
                    <a:pt x="1393543" y="0"/>
                    <a:pt x="1404592" y="11049"/>
                    <a:pt x="1404592" y="24679"/>
                  </a:cubicBezTo>
                  <a:lnTo>
                    <a:pt x="1404592" y="647858"/>
                  </a:lnTo>
                  <a:cubicBezTo>
                    <a:pt x="1404592" y="654403"/>
                    <a:pt x="1401992" y="660680"/>
                    <a:pt x="1397364" y="665308"/>
                  </a:cubicBezTo>
                  <a:cubicBezTo>
                    <a:pt x="1392735" y="669936"/>
                    <a:pt x="1386458" y="672536"/>
                    <a:pt x="1379913" y="672536"/>
                  </a:cubicBezTo>
                  <a:lnTo>
                    <a:pt x="24679" y="672536"/>
                  </a:lnTo>
                  <a:cubicBezTo>
                    <a:pt x="11049" y="672536"/>
                    <a:pt x="0" y="661487"/>
                    <a:pt x="0" y="647858"/>
                  </a:cubicBezTo>
                  <a:lnTo>
                    <a:pt x="0" y="24679"/>
                  </a:lnTo>
                  <a:cubicBezTo>
                    <a:pt x="0" y="11049"/>
                    <a:pt x="11049" y="0"/>
                    <a:pt x="24679" y="0"/>
                  </a:cubicBezTo>
                  <a:close/>
                </a:path>
              </a:pathLst>
            </a:custGeom>
            <a:solidFill>
              <a:srgbClr val="DBDDDE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404592" cy="71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174316" y="4053549"/>
            <a:ext cx="4968522" cy="135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Depth Anything V2 — fast, accurate monocular depth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6" tooltip="https://github.com/DepthAnything/Depth-Anything-V2"/>
              </a:rPr>
              <a:t>https://github.com/DepthAnything/Depth-Anything-V2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2148" y="7264922"/>
            <a:ext cx="5981600" cy="673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pycolmap — Python bindings for COLMAP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  <a:r>
              <a:rPr lang="en-US" b="true" sz="1982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7" tooltip="https://github.com/colmap/pycolmap"/>
              </a:rPr>
              <a:t>ttps://github.com/colmap/pycolmap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255577" y="7124421"/>
            <a:ext cx="4806001" cy="101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MiDaS — robust monocular depth baseline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8" tooltip="https://github.com/isl-org/MiDaS"/>
              </a:rPr>
              <a:t>https://github.com/isl-org/MiDaS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25314" y="6922022"/>
            <a:ext cx="5119589" cy="135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 Gaussian Splatting — alternative dense-scene representation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9" tooltip="https://repo-sam.inria.fr/fungraph/3d-gaussian-splatting/"/>
              </a:rPr>
              <a:t>https://repo-sam.inria.fr/fungraph/3d-gaussian-splatting/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867334" y="4127044"/>
            <a:ext cx="5079298" cy="101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Open3D — point cloud processing &amp; Poisson meshing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b="true" sz="1982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10" tooltip="https://www.open3d.org"/>
              </a:rPr>
              <a:t>https://www.open3d.org/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DAHTSVT_UmI</dc:identifier>
  <dcterms:modified xsi:type="dcterms:W3CDTF">2011-08-01T06:04:30Z</dcterms:modified>
  <cp:revision>1</cp:revision>
  <dc:title>SIH2026-IDEA-Presentation-Format.pptx</dc:title>
</cp:coreProperties>
</file>